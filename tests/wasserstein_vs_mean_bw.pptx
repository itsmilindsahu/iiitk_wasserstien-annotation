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6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a1a60158-8b21-00d0-6d02-7aa25320078c}">
          <p14:sldIdLst>
            <p14:sldId id="256"/>
          </p14:sldIdLst>
        </p14:section>
        <p14:section name="Architecture" id="{8a2409bc-8fd0-92b9-1931-1cc3305092f2}">
          <p14:sldIdLst>
            <p14:sldId id="257"/>
            <p14:sldId id="258"/>
            <p14:sldId id="259"/>
          </p14:sldIdLst>
        </p14:section>
        <p14:section name="Figures" id="{547bc12d-fc19-b72f-adba-e523929ab878}">
          <p14:sldIdLst>
            <p14:sldId id="260"/>
            <p14:sldId id="261"/>
          </p14:sldIdLst>
        </p14:section>
        <p14:section name="Results" id="{e9238d41-dcbe-0687-77f7-efe22c48c85a}">
          <p14:sldIdLst>
            <p14:sldId id="262"/>
            <p14:sldId id="263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Euclidean mean</c:v>
                </c:pt>
              </c:strCache>
            </c:strRef>
          </c:tx>
          <c:spPr>
            <a:solidFill>
              <a:srgbClr val="808080"/>
            </a:solidFill>
            <a:ln w="31750" cap="flat">
              <a:solidFill>
                <a:srgbClr val="808080"/>
              </a:solidFill>
              <a:prstDash val="solid,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08080"/>
              </a:solidFill>
              <a:ln w="9525" cap="flat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Sheet1!$A$2:$A$42</c:f>
              <c:multiLvlStrCache>
                <c:ptCount val="41"/>
                <c:lvl>
                  <c:pt idx="0">
                    <c:v>30</c:v>
                  </c:pt>
                  <c:pt idx="1">
                    <c:v> </c:v>
                  </c:pt>
                  <c:pt idx="2">
                    <c:v> </c:v>
                  </c:pt>
                  <c:pt idx="3">
                    <c:v> </c:v>
                  </c:pt>
                  <c:pt idx="4">
                    <c:v> </c:v>
                  </c:pt>
                  <c:pt idx="5">
                    <c:v> </c:v>
                  </c:pt>
                  <c:pt idx="6">
                    <c:v> </c:v>
                  </c:pt>
                  <c:pt idx="7">
                    <c:v> </c:v>
                  </c:pt>
                  <c:pt idx="8">
                    <c:v> </c:v>
                  </c:pt>
                  <c:pt idx="9">
                    <c:v> </c:v>
                  </c:pt>
                  <c:pt idx="10">
                    <c:v>40</c:v>
                  </c:pt>
                  <c:pt idx="11">
                    <c:v> </c:v>
                  </c:pt>
                  <c:pt idx="12">
                    <c:v> </c:v>
                  </c:pt>
                  <c:pt idx="13">
                    <c:v> </c:v>
                  </c:pt>
                  <c:pt idx="14">
                    <c:v> </c:v>
                  </c:pt>
                  <c:pt idx="15">
                    <c:v> </c:v>
                  </c:pt>
                  <c:pt idx="16">
                    <c:v> </c:v>
                  </c:pt>
                  <c:pt idx="17">
                    <c:v> </c:v>
                  </c:pt>
                  <c:pt idx="18">
                    <c:v> </c:v>
                  </c:pt>
                  <c:pt idx="19">
                    <c:v> </c:v>
                  </c:pt>
                  <c:pt idx="20">
                    <c:v>50</c:v>
                  </c:pt>
                  <c:pt idx="21">
                    <c:v> </c:v>
                  </c:pt>
                  <c:pt idx="22">
                    <c:v> </c:v>
                  </c:pt>
                  <c:pt idx="23">
                    <c:v> </c:v>
                  </c:pt>
                  <c:pt idx="24">
                    <c:v> </c:v>
                  </c:pt>
                  <c:pt idx="25">
                    <c:v> </c:v>
                  </c:pt>
                  <c:pt idx="26">
                    <c:v> </c:v>
                  </c:pt>
                  <c:pt idx="27">
                    <c:v> </c:v>
                  </c:pt>
                  <c:pt idx="28">
                    <c:v> </c:v>
                  </c:pt>
                  <c:pt idx="29">
                    <c:v> </c:v>
                  </c:pt>
                  <c:pt idx="30">
                    <c:v>60</c:v>
                  </c:pt>
                  <c:pt idx="31">
                    <c:v> </c:v>
                  </c:pt>
                  <c:pt idx="32">
                    <c:v> </c:v>
                  </c:pt>
                  <c:pt idx="33">
                    <c:v> </c:v>
                  </c:pt>
                  <c:pt idx="34">
                    <c:v> </c:v>
                  </c:pt>
                  <c:pt idx="35">
                    <c:v> </c:v>
                  </c:pt>
                  <c:pt idx="36">
                    <c:v> </c:v>
                  </c:pt>
                  <c:pt idx="37">
                    <c:v> </c:v>
                  </c:pt>
                  <c:pt idx="38">
                    <c:v> </c:v>
                  </c:pt>
                  <c:pt idx="39">
                    <c:v> </c:v>
                  </c:pt>
                  <c:pt idx="40">
                    <c:v>70</c:v>
                  </c:pt>
                </c:lvl>
              </c:multiLvlStrCache>
            </c:multiLvlStrRef>
          </c:cat>
          <c:val>
            <c:numRef>
              <c:f>Sheet1!$B$2:$B$42</c:f>
              <c:numCache>
                <c:formatCode>General</c:formatCode>
                <c:ptCount val="4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0.0001</c:v>
                </c:pt>
                <c:pt idx="5">
                  <c:v>0.0006</c:v>
                </c:pt>
                <c:pt idx="6">
                  <c:v>0.0019</c:v>
                </c:pt>
                <c:pt idx="7">
                  <c:v>0.0052</c:v>
                </c:pt>
                <c:pt idx="8">
                  <c:v>0.0112</c:v>
                </c:pt>
                <c:pt idx="9">
                  <c:v>0.02</c:v>
                </c:pt>
                <c:pt idx="10">
                  <c:v>0.03</c:v>
                </c:pt>
                <c:pt idx="11">
                  <c:v>0.0388</c:v>
                </c:pt>
                <c:pt idx="12">
                  <c:v>0.0448</c:v>
                </c:pt>
                <c:pt idx="13">
                  <c:v>0.0481</c:v>
                </c:pt>
                <c:pt idx="14">
                  <c:v>0.0493</c:v>
                </c:pt>
                <c:pt idx="15">
                  <c:v>0.0494</c:v>
                </c:pt>
                <c:pt idx="16">
                  <c:v>0.0486</c:v>
                </c:pt>
                <c:pt idx="17">
                  <c:v>0.0468</c:v>
                </c:pt>
                <c:pt idx="18">
                  <c:v>0.044</c:v>
                </c:pt>
                <c:pt idx="19">
                  <c:v>0.0412</c:v>
                </c:pt>
                <c:pt idx="20">
                  <c:v>0.04</c:v>
                </c:pt>
                <c:pt idx="21">
                  <c:v>0.0412</c:v>
                </c:pt>
                <c:pt idx="22">
                  <c:v>0.044</c:v>
                </c:pt>
                <c:pt idx="23">
                  <c:v>0.0468</c:v>
                </c:pt>
                <c:pt idx="24">
                  <c:v>0.0486</c:v>
                </c:pt>
                <c:pt idx="25">
                  <c:v>0.0494</c:v>
                </c:pt>
                <c:pt idx="26">
                  <c:v>0.0493</c:v>
                </c:pt>
                <c:pt idx="27">
                  <c:v>0.0481</c:v>
                </c:pt>
                <c:pt idx="28">
                  <c:v>0.0448</c:v>
                </c:pt>
                <c:pt idx="29">
                  <c:v>0.0388</c:v>
                </c:pt>
                <c:pt idx="30">
                  <c:v>0.03</c:v>
                </c:pt>
                <c:pt idx="31">
                  <c:v>0.02</c:v>
                </c:pt>
                <c:pt idx="32">
                  <c:v>0.0112</c:v>
                </c:pt>
                <c:pt idx="33">
                  <c:v>0.0052</c:v>
                </c:pt>
                <c:pt idx="34">
                  <c:v>0.0019</c:v>
                </c:pt>
                <c:pt idx="35">
                  <c:v>0.0006</c:v>
                </c:pt>
                <c:pt idx="36">
                  <c:v>0.0001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Wasserstein barycenter</c:v>
                </c:pt>
              </c:strCache>
            </c:strRef>
          </c:tx>
          <c:spPr>
            <a:solidFill>
              <a:srgbClr val="000000"/>
            </a:solidFill>
            <a:ln w="31750" cap="flat">
              <a:solidFill>
                <a:srgbClr val="000000"/>
              </a:solidFill>
              <a:prstDash val="solid,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Sheet1!$A$2:$A$42</c:f>
              <c:multiLvlStrCache>
                <c:ptCount val="41"/>
                <c:lvl>
                  <c:pt idx="0">
                    <c:v>30</c:v>
                  </c:pt>
                  <c:pt idx="1">
                    <c:v> </c:v>
                  </c:pt>
                  <c:pt idx="2">
                    <c:v> </c:v>
                  </c:pt>
                  <c:pt idx="3">
                    <c:v> </c:v>
                  </c:pt>
                  <c:pt idx="4">
                    <c:v> </c:v>
                  </c:pt>
                  <c:pt idx="5">
                    <c:v> </c:v>
                  </c:pt>
                  <c:pt idx="6">
                    <c:v> </c:v>
                  </c:pt>
                  <c:pt idx="7">
                    <c:v> </c:v>
                  </c:pt>
                  <c:pt idx="8">
                    <c:v> </c:v>
                  </c:pt>
                  <c:pt idx="9">
                    <c:v> </c:v>
                  </c:pt>
                  <c:pt idx="10">
                    <c:v>40</c:v>
                  </c:pt>
                  <c:pt idx="11">
                    <c:v> </c:v>
                  </c:pt>
                  <c:pt idx="12">
                    <c:v> </c:v>
                  </c:pt>
                  <c:pt idx="13">
                    <c:v> </c:v>
                  </c:pt>
                  <c:pt idx="14">
                    <c:v> </c:v>
                  </c:pt>
                  <c:pt idx="15">
                    <c:v> </c:v>
                  </c:pt>
                  <c:pt idx="16">
                    <c:v> </c:v>
                  </c:pt>
                  <c:pt idx="17">
                    <c:v> </c:v>
                  </c:pt>
                  <c:pt idx="18">
                    <c:v> </c:v>
                  </c:pt>
                  <c:pt idx="19">
                    <c:v> </c:v>
                  </c:pt>
                  <c:pt idx="20">
                    <c:v>50</c:v>
                  </c:pt>
                  <c:pt idx="21">
                    <c:v> </c:v>
                  </c:pt>
                  <c:pt idx="22">
                    <c:v> </c:v>
                  </c:pt>
                  <c:pt idx="23">
                    <c:v> </c:v>
                  </c:pt>
                  <c:pt idx="24">
                    <c:v> </c:v>
                  </c:pt>
                  <c:pt idx="25">
                    <c:v> </c:v>
                  </c:pt>
                  <c:pt idx="26">
                    <c:v> </c:v>
                  </c:pt>
                  <c:pt idx="27">
                    <c:v> </c:v>
                  </c:pt>
                  <c:pt idx="28">
                    <c:v> </c:v>
                  </c:pt>
                  <c:pt idx="29">
                    <c:v> </c:v>
                  </c:pt>
                  <c:pt idx="30">
                    <c:v>60</c:v>
                  </c:pt>
                  <c:pt idx="31">
                    <c:v> </c:v>
                  </c:pt>
                  <c:pt idx="32">
                    <c:v> </c:v>
                  </c:pt>
                  <c:pt idx="33">
                    <c:v> </c:v>
                  </c:pt>
                  <c:pt idx="34">
                    <c:v> </c:v>
                  </c:pt>
                  <c:pt idx="35">
                    <c:v> </c:v>
                  </c:pt>
                  <c:pt idx="36">
                    <c:v> </c:v>
                  </c:pt>
                  <c:pt idx="37">
                    <c:v> </c:v>
                  </c:pt>
                  <c:pt idx="38">
                    <c:v> </c:v>
                  </c:pt>
                  <c:pt idx="39">
                    <c:v> </c:v>
                  </c:pt>
                  <c:pt idx="40">
                    <c:v>70</c:v>
                  </c:pt>
                </c:lvl>
              </c:multiLvlStrCache>
            </c:multiLvlStrRef>
          </c:cat>
          <c:val>
            <c:numRef>
              <c:f>Sheet1!$C$2:$C$42</c:f>
              <c:numCache>
                <c:formatCode>General</c:formatCode>
                <c:ptCount val="4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0.01</c:v>
                </c:pt>
                <c:pt idx="16">
                  <c:v>0.03</c:v>
                </c:pt>
                <c:pt idx="17">
                  <c:v>0.06</c:v>
                </c:pt>
                <c:pt idx="18">
                  <c:v>0.12</c:v>
                </c:pt>
                <c:pt idx="19">
                  <c:v>0.18</c:v>
                </c:pt>
                <c:pt idx="20">
                  <c:v>0.2</c:v>
                </c:pt>
                <c:pt idx="21">
                  <c:v>0.18</c:v>
                </c:pt>
                <c:pt idx="22">
                  <c:v>0.12</c:v>
                </c:pt>
                <c:pt idx="23">
                  <c:v>0.06</c:v>
                </c:pt>
                <c:pt idx="24">
                  <c:v>0.03</c:v>
                </c:pt>
                <c:pt idx="25">
                  <c:v>0.01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True event (overlaps barycenter)</c:v>
                </c:pt>
              </c:strCache>
            </c:strRef>
          </c:tx>
          <c:spPr>
            <a:solidFill>
              <a:srgbClr val="BFBFBF"/>
            </a:solidFill>
            <a:ln w="31750" cap="flat">
              <a:solidFill>
                <a:srgbClr val="BFBFBF"/>
              </a:solidFill>
              <a:prstDash val="solid,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FBFBF"/>
              </a:solidFill>
              <a:ln w="9525" cap="flat">
                <a:solidFill>
                  <a:srgbClr val="BFBFB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Sheet1!$A$2:$A$42</c:f>
              <c:multiLvlStrCache>
                <c:ptCount val="41"/>
                <c:lvl>
                  <c:pt idx="0">
                    <c:v>30</c:v>
                  </c:pt>
                  <c:pt idx="1">
                    <c:v> </c:v>
                  </c:pt>
                  <c:pt idx="2">
                    <c:v> </c:v>
                  </c:pt>
                  <c:pt idx="3">
                    <c:v> </c:v>
                  </c:pt>
                  <c:pt idx="4">
                    <c:v> </c:v>
                  </c:pt>
                  <c:pt idx="5">
                    <c:v> </c:v>
                  </c:pt>
                  <c:pt idx="6">
                    <c:v> </c:v>
                  </c:pt>
                  <c:pt idx="7">
                    <c:v> </c:v>
                  </c:pt>
                  <c:pt idx="8">
                    <c:v> </c:v>
                  </c:pt>
                  <c:pt idx="9">
                    <c:v> </c:v>
                  </c:pt>
                  <c:pt idx="10">
                    <c:v>40</c:v>
                  </c:pt>
                  <c:pt idx="11">
                    <c:v> </c:v>
                  </c:pt>
                  <c:pt idx="12">
                    <c:v> </c:v>
                  </c:pt>
                  <c:pt idx="13">
                    <c:v> </c:v>
                  </c:pt>
                  <c:pt idx="14">
                    <c:v> </c:v>
                  </c:pt>
                  <c:pt idx="15">
                    <c:v> </c:v>
                  </c:pt>
                  <c:pt idx="16">
                    <c:v> </c:v>
                  </c:pt>
                  <c:pt idx="17">
                    <c:v> </c:v>
                  </c:pt>
                  <c:pt idx="18">
                    <c:v> </c:v>
                  </c:pt>
                  <c:pt idx="19">
                    <c:v> </c:v>
                  </c:pt>
                  <c:pt idx="20">
                    <c:v>50</c:v>
                  </c:pt>
                  <c:pt idx="21">
                    <c:v> </c:v>
                  </c:pt>
                  <c:pt idx="22">
                    <c:v> </c:v>
                  </c:pt>
                  <c:pt idx="23">
                    <c:v> </c:v>
                  </c:pt>
                  <c:pt idx="24">
                    <c:v> </c:v>
                  </c:pt>
                  <c:pt idx="25">
                    <c:v> </c:v>
                  </c:pt>
                  <c:pt idx="26">
                    <c:v> </c:v>
                  </c:pt>
                  <c:pt idx="27">
                    <c:v> </c:v>
                  </c:pt>
                  <c:pt idx="28">
                    <c:v> </c:v>
                  </c:pt>
                  <c:pt idx="29">
                    <c:v> </c:v>
                  </c:pt>
                  <c:pt idx="30">
                    <c:v>60</c:v>
                  </c:pt>
                  <c:pt idx="31">
                    <c:v> </c:v>
                  </c:pt>
                  <c:pt idx="32">
                    <c:v> </c:v>
                  </c:pt>
                  <c:pt idx="33">
                    <c:v> </c:v>
                  </c:pt>
                  <c:pt idx="34">
                    <c:v> </c:v>
                  </c:pt>
                  <c:pt idx="35">
                    <c:v> </c:v>
                  </c:pt>
                  <c:pt idx="36">
                    <c:v> </c:v>
                  </c:pt>
                  <c:pt idx="37">
                    <c:v> </c:v>
                  </c:pt>
                  <c:pt idx="38">
                    <c:v> </c:v>
                  </c:pt>
                  <c:pt idx="39">
                    <c:v> </c:v>
                  </c:pt>
                  <c:pt idx="40">
                    <c:v>70</c:v>
                  </c:pt>
                </c:lvl>
              </c:multiLvlStrCache>
            </c:multiLvlStrRef>
          </c:cat>
          <c:val>
            <c:numRef>
              <c:f>Sheet1!$D$2:$D$42</c:f>
              <c:numCache>
                <c:formatCode>General</c:formatCode>
                <c:ptCount val="4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0.0001</c:v>
                </c:pt>
                <c:pt idx="13">
                  <c:v>0.0004</c:v>
                </c:pt>
                <c:pt idx="14">
                  <c:v>0.0022</c:v>
                </c:pt>
                <c:pt idx="15">
                  <c:v>0.0088</c:v>
                </c:pt>
                <c:pt idx="16">
                  <c:v>0.027</c:v>
                </c:pt>
                <c:pt idx="17">
                  <c:v>0.0648</c:v>
                </c:pt>
                <c:pt idx="18">
                  <c:v>0.121</c:v>
                </c:pt>
                <c:pt idx="19">
                  <c:v>0.176</c:v>
                </c:pt>
                <c:pt idx="20">
                  <c:v>0.1995</c:v>
                </c:pt>
                <c:pt idx="21">
                  <c:v>0.176</c:v>
                </c:pt>
                <c:pt idx="22">
                  <c:v>0.121</c:v>
                </c:pt>
                <c:pt idx="23">
                  <c:v>0.0648</c:v>
                </c:pt>
                <c:pt idx="24">
                  <c:v>0.027</c:v>
                </c:pt>
                <c:pt idx="25">
                  <c:v>0.0088</c:v>
                </c:pt>
                <c:pt idx="26">
                  <c:v>0.0022</c:v>
                </c:pt>
                <c:pt idx="27">
                  <c:v>0.0004</c:v>
                </c:pt>
                <c:pt idx="28">
                  <c:v>0.0001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000000"/>
                    </a:solidFill>
                    <a:latin typeface="Arial"/>
                  </a:rPr>
                  <a:t>Mass</a:t>
                </a:r>
              </a:p>
            </c:rich>
          </c:tx>
          <c:layout/>
          <c:overlay val="0"/>
        </c:title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00000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Euclidean mean</c:v>
                </c:pt>
              </c:strCache>
            </c:strRef>
          </c:tx>
          <c:spPr>
            <a:solidFill>
              <a:srgbClr val="808080"/>
            </a:solidFill>
            <a:ln w="31750" cap="flat">
              <a:solidFill>
                <a:srgbClr val="80808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08080"/>
              </a:solidFill>
              <a:ln w="9525" cap="flat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Sheet1!$A$2:$A$47</c:f>
              <c:multiLvlStrCache>
                <c:ptCount val="46"/>
                <c:lvl>
                  <c:pt idx="0">
                    <c:v>0</c:v>
                  </c:pt>
                  <c:pt idx="1">
                    <c:v> </c:v>
                  </c:pt>
                  <c:pt idx="2">
                    <c:v> </c:v>
                  </c:pt>
                  <c:pt idx="3">
                    <c:v> </c:v>
                  </c:pt>
                  <c:pt idx="4">
                    <c:v> </c:v>
                  </c:pt>
                  <c:pt idx="5">
                    <c:v>10</c:v>
                  </c:pt>
                  <c:pt idx="6">
                    <c:v> </c:v>
                  </c:pt>
                  <c:pt idx="7">
                    <c:v> </c:v>
                  </c:pt>
                  <c:pt idx="8">
                    <c:v> </c:v>
                  </c:pt>
                  <c:pt idx="9">
                    <c:v> </c:v>
                  </c:pt>
                  <c:pt idx="10">
                    <c:v>20</c:v>
                  </c:pt>
                  <c:pt idx="11">
                    <c:v> </c:v>
                  </c:pt>
                  <c:pt idx="12">
                    <c:v> </c:v>
                  </c:pt>
                  <c:pt idx="13">
                    <c:v> </c:v>
                  </c:pt>
                  <c:pt idx="14">
                    <c:v> </c:v>
                  </c:pt>
                  <c:pt idx="15">
                    <c:v>30</c:v>
                  </c:pt>
                  <c:pt idx="16">
                    <c:v> </c:v>
                  </c:pt>
                  <c:pt idx="17">
                    <c:v> </c:v>
                  </c:pt>
                  <c:pt idx="18">
                    <c:v> </c:v>
                  </c:pt>
                  <c:pt idx="19">
                    <c:v> </c:v>
                  </c:pt>
                  <c:pt idx="20">
                    <c:v>40</c:v>
                  </c:pt>
                  <c:pt idx="21">
                    <c:v> </c:v>
                  </c:pt>
                  <c:pt idx="22">
                    <c:v> </c:v>
                  </c:pt>
                  <c:pt idx="23">
                    <c:v> </c:v>
                  </c:pt>
                  <c:pt idx="24">
                    <c:v> </c:v>
                  </c:pt>
                  <c:pt idx="25">
                    <c:v>50</c:v>
                  </c:pt>
                  <c:pt idx="26">
                    <c:v> </c:v>
                  </c:pt>
                  <c:pt idx="27">
                    <c:v> </c:v>
                  </c:pt>
                  <c:pt idx="28">
                    <c:v> </c:v>
                  </c:pt>
                  <c:pt idx="29">
                    <c:v> </c:v>
                  </c:pt>
                  <c:pt idx="30">
                    <c:v>60</c:v>
                  </c:pt>
                  <c:pt idx="31">
                    <c:v> </c:v>
                  </c:pt>
                  <c:pt idx="32">
                    <c:v> </c:v>
                  </c:pt>
                  <c:pt idx="33">
                    <c:v> </c:v>
                  </c:pt>
                  <c:pt idx="34">
                    <c:v> </c:v>
                  </c:pt>
                  <c:pt idx="35">
                    <c:v>70</c:v>
                  </c:pt>
                  <c:pt idx="36">
                    <c:v> </c:v>
                  </c:pt>
                  <c:pt idx="37">
                    <c:v> </c:v>
                  </c:pt>
                  <c:pt idx="38">
                    <c:v> </c:v>
                  </c:pt>
                  <c:pt idx="39">
                    <c:v> </c:v>
                  </c:pt>
                  <c:pt idx="40">
                    <c:v>80</c:v>
                  </c:pt>
                  <c:pt idx="41">
                    <c:v> </c:v>
                  </c:pt>
                  <c:pt idx="42">
                    <c:v> </c:v>
                  </c:pt>
                  <c:pt idx="43">
                    <c:v> </c:v>
                  </c:pt>
                  <c:pt idx="44">
                    <c:v> </c:v>
                  </c:pt>
                  <c:pt idx="45">
                    <c:v>90</c:v>
                  </c:pt>
                </c:lvl>
              </c:multiLvlStrCache>
            </c:multiLvlStrRef>
          </c:cat>
          <c:val>
            <c:numRef>
              <c:f>Sheet1!$B$2:$B$47</c:f>
              <c:numCache>
                <c:formatCode>General</c:formatCode>
                <c:ptCount val="4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0.0038</c:v>
                </c:pt>
                <c:pt idx="9">
                  <c:v>0.0547</c:v>
                </c:pt>
                <c:pt idx="10">
                  <c:v>0.133</c:v>
                </c:pt>
                <c:pt idx="11">
                  <c:v>0.0547</c:v>
                </c:pt>
                <c:pt idx="12">
                  <c:v>0.0038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0.0038</c:v>
                </c:pt>
                <c:pt idx="34">
                  <c:v>0.0547</c:v>
                </c:pt>
                <c:pt idx="35">
                  <c:v>0.133</c:v>
                </c:pt>
                <c:pt idx="36">
                  <c:v>0.0547</c:v>
                </c:pt>
                <c:pt idx="37">
                  <c:v>0.0038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Wasserstein barycenter</c:v>
                </c:pt>
              </c:strCache>
            </c:strRef>
          </c:tx>
          <c:spPr>
            <a:solidFill>
              <a:srgbClr val="000000"/>
            </a:solidFill>
            <a:ln w="3175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Sheet1!$A$2:$A$47</c:f>
              <c:multiLvlStrCache>
                <c:ptCount val="46"/>
                <c:lvl>
                  <c:pt idx="0">
                    <c:v>0</c:v>
                  </c:pt>
                  <c:pt idx="1">
                    <c:v> </c:v>
                  </c:pt>
                  <c:pt idx="2">
                    <c:v> </c:v>
                  </c:pt>
                  <c:pt idx="3">
                    <c:v> </c:v>
                  </c:pt>
                  <c:pt idx="4">
                    <c:v> </c:v>
                  </c:pt>
                  <c:pt idx="5">
                    <c:v>10</c:v>
                  </c:pt>
                  <c:pt idx="6">
                    <c:v> </c:v>
                  </c:pt>
                  <c:pt idx="7">
                    <c:v> </c:v>
                  </c:pt>
                  <c:pt idx="8">
                    <c:v> </c:v>
                  </c:pt>
                  <c:pt idx="9">
                    <c:v> </c:v>
                  </c:pt>
                  <c:pt idx="10">
                    <c:v>20</c:v>
                  </c:pt>
                  <c:pt idx="11">
                    <c:v> </c:v>
                  </c:pt>
                  <c:pt idx="12">
                    <c:v> </c:v>
                  </c:pt>
                  <c:pt idx="13">
                    <c:v> </c:v>
                  </c:pt>
                  <c:pt idx="14">
                    <c:v> </c:v>
                  </c:pt>
                  <c:pt idx="15">
                    <c:v>30</c:v>
                  </c:pt>
                  <c:pt idx="16">
                    <c:v> </c:v>
                  </c:pt>
                  <c:pt idx="17">
                    <c:v> </c:v>
                  </c:pt>
                  <c:pt idx="18">
                    <c:v> </c:v>
                  </c:pt>
                  <c:pt idx="19">
                    <c:v> </c:v>
                  </c:pt>
                  <c:pt idx="20">
                    <c:v>40</c:v>
                  </c:pt>
                  <c:pt idx="21">
                    <c:v> </c:v>
                  </c:pt>
                  <c:pt idx="22">
                    <c:v> </c:v>
                  </c:pt>
                  <c:pt idx="23">
                    <c:v> </c:v>
                  </c:pt>
                  <c:pt idx="24">
                    <c:v> </c:v>
                  </c:pt>
                  <c:pt idx="25">
                    <c:v>50</c:v>
                  </c:pt>
                  <c:pt idx="26">
                    <c:v> </c:v>
                  </c:pt>
                  <c:pt idx="27">
                    <c:v> </c:v>
                  </c:pt>
                  <c:pt idx="28">
                    <c:v> </c:v>
                  </c:pt>
                  <c:pt idx="29">
                    <c:v> </c:v>
                  </c:pt>
                  <c:pt idx="30">
                    <c:v>60</c:v>
                  </c:pt>
                  <c:pt idx="31">
                    <c:v> </c:v>
                  </c:pt>
                  <c:pt idx="32">
                    <c:v> </c:v>
                  </c:pt>
                  <c:pt idx="33">
                    <c:v> </c:v>
                  </c:pt>
                  <c:pt idx="34">
                    <c:v> </c:v>
                  </c:pt>
                  <c:pt idx="35">
                    <c:v>70</c:v>
                  </c:pt>
                  <c:pt idx="36">
                    <c:v> </c:v>
                  </c:pt>
                  <c:pt idx="37">
                    <c:v> </c:v>
                  </c:pt>
                  <c:pt idx="38">
                    <c:v> </c:v>
                  </c:pt>
                  <c:pt idx="39">
                    <c:v> </c:v>
                  </c:pt>
                  <c:pt idx="40">
                    <c:v>80</c:v>
                  </c:pt>
                  <c:pt idx="41">
                    <c:v> </c:v>
                  </c:pt>
                  <c:pt idx="42">
                    <c:v> </c:v>
                  </c:pt>
                  <c:pt idx="43">
                    <c:v> </c:v>
                  </c:pt>
                  <c:pt idx="44">
                    <c:v> </c:v>
                  </c:pt>
                  <c:pt idx="45">
                    <c:v>90</c:v>
                  </c:pt>
                </c:lvl>
              </c:multiLvlStrCache>
            </c:multiLvlStrRef>
          </c:cat>
          <c:val>
            <c:numRef>
              <c:f>Sheet1!$C$2:$C$47</c:f>
              <c:numCache>
                <c:formatCode>General</c:formatCode>
                <c:ptCount val="4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0.03</c:v>
                </c:pt>
                <c:pt idx="22">
                  <c:v>0.22</c:v>
                </c:pt>
                <c:pt idx="23">
                  <c:v>0.22</c:v>
                </c:pt>
                <c:pt idx="24">
                  <c:v>0.03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000000"/>
                    </a:solidFill>
                    <a:latin typeface="Arial"/>
                  </a:rPr>
                  <a:t>Mass</a:t>
                </a:r>
              </a:p>
            </c:rich>
          </c:tx>
          <c:layout/>
          <c:overlay val="0"/>
        </c:title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00000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target</c:v>
                </c:pt>
              </c:strCache>
            </c:strRef>
          </c:tx>
          <c:spPr>
            <a:solidFill>
              <a:srgbClr val="00000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All (n=50)</c:v>
                  </c:pt>
                  <c:pt idx="1">
                    <c:v>High disagreement (17)</c:v>
                  </c:pt>
                  <c:pt idx="2">
                    <c:v>Middle (17)</c:v>
                  </c:pt>
                  <c:pt idx="3">
                    <c:v>Low disagreement (16)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62.62</c:v>
                </c:pt>
                <c:pt idx="1">
                  <c:v>57.3</c:v>
                </c:pt>
                <c:pt idx="2">
                  <c:v>64.04</c:v>
                </c:pt>
                <c:pt idx="3">
                  <c:v>66.76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Barycenter target</c:v>
                </c:pt>
              </c:strCache>
            </c:strRef>
          </c:tx>
          <c:spPr>
            <a:solidFill>
              <a:srgbClr val="A6A6A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All (n=50)</c:v>
                  </c:pt>
                  <c:pt idx="1">
                    <c:v>High disagreement (17)</c:v>
                  </c:pt>
                  <c:pt idx="2">
                    <c:v>Middle (17)</c:v>
                  </c:pt>
                  <c:pt idx="3">
                    <c:v>Low disagreement (16)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60.68</c:v>
                </c:pt>
                <c:pt idx="1">
                  <c:v>56.08</c:v>
                </c:pt>
                <c:pt idx="2">
                  <c:v>63.01</c:v>
                </c:pt>
                <c:pt idx="3">
                  <c:v>63.1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50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00000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(%)</c:v>
                </c:pt>
              </c:strCache>
            </c:strRef>
          </c:tx>
          <c:spPr>
            <a:solidFill>
              <a:srgbClr val="A6A6A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6A6A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6A6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6A6A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000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000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0000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0000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00000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00000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A6A6A6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Random</c:v>
                  </c:pt>
                  <c:pt idx="1">
                    <c:v>Feature-shuffle control</c:v>
                  </c:pt>
                  <c:pt idx="2">
                    <c:v>Uniform (all-equal scores)</c:v>
                  </c:pt>
                  <c:pt idx="3">
                    <c:v>D  Barycenter + MSE</c:v>
                  </c:pt>
                  <c:pt idx="4">
                    <c:v>C  Mean + Cramér</c:v>
                  </c:pt>
                  <c:pt idx="5">
                    <c:v>E  Barycenter + Cramér</c:v>
                  </c:pt>
                  <c:pt idx="6">
                    <c:v>F  Blend + Cramér</c:v>
                  </c:pt>
                  <c:pt idx="7">
                    <c:v>A  Mean + MSE</c:v>
                  </c:pt>
                  <c:pt idx="8">
                    <c:v>B  Mean + cross-entropy</c:v>
                  </c:pt>
                  <c:pt idx="9">
                    <c:v>Human leave-one-out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54.77</c:v>
                </c:pt>
                <c:pt idx="1">
                  <c:v>57.01</c:v>
                </c:pt>
                <c:pt idx="2">
                  <c:v>57.37</c:v>
                </c:pt>
                <c:pt idx="3">
                  <c:v>58.12</c:v>
                </c:pt>
                <c:pt idx="4">
                  <c:v>58.23</c:v>
                </c:pt>
                <c:pt idx="5">
                  <c:v>58.51</c:v>
                </c:pt>
                <c:pt idx="6">
                  <c:v>58.61</c:v>
                </c:pt>
                <c:pt idx="7">
                  <c:v>58.65</c:v>
                </c:pt>
                <c:pt idx="8">
                  <c:v>59.38</c:v>
                </c:pt>
                <c:pt idx="9">
                  <c:v>63.68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6"/>
          <c:min val="50"/>
        </c:scaling>
        <c:delete val="0"/>
        <c:axPos val="b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4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Scored vs jittered held-out annotator</c:v>
                </c:pt>
              </c:strCache>
            </c:strRef>
          </c:tx>
          <c:spPr>
            <a:solidFill>
              <a:srgbClr val="808080"/>
            </a:solidFill>
            <a:ln w="31750" cap="flat">
              <a:solidFill>
                <a:srgbClr val="80808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808080"/>
              </a:solidFill>
              <a:ln w="9525" cap="flat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4</c:v>
                  </c:pt>
                  <c:pt idx="4">
                    <c:v>8</c:v>
                  </c:pt>
                  <c:pt idx="5">
                    <c:v>16</c:v>
                  </c:pt>
                  <c:pt idx="6">
                    <c:v>32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-3.65</c:v>
                </c:pt>
                <c:pt idx="1">
                  <c:v>-2.65</c:v>
                </c:pt>
                <c:pt idx="2">
                  <c:v>-1.9</c:v>
                </c:pt>
                <c:pt idx="3">
                  <c:v>0.03</c:v>
                </c:pt>
                <c:pt idx="4">
                  <c:v>-0.36</c:v>
                </c:pt>
                <c:pt idx="5">
                  <c:v>-1.58</c:v>
                </c:pt>
                <c:pt idx="6">
                  <c:v>-1.23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Scored vs latent unjittered truth</c:v>
                </c:pt>
              </c:strCache>
            </c:strRef>
          </c:tx>
          <c:spPr>
            <a:solidFill>
              <a:srgbClr val="000000"/>
            </a:solidFill>
            <a:ln w="3175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4</c:v>
                  </c:pt>
                  <c:pt idx="4">
                    <c:v>8</c:v>
                  </c:pt>
                  <c:pt idx="5">
                    <c:v>16</c:v>
                  </c:pt>
                  <c:pt idx="6">
                    <c:v>32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-7</c:v>
                </c:pt>
                <c:pt idx="1">
                  <c:v>-8.57</c:v>
                </c:pt>
                <c:pt idx="2">
                  <c:v>-5.15</c:v>
                </c:pt>
                <c:pt idx="3">
                  <c:v>-1.29</c:v>
                </c:pt>
                <c:pt idx="4">
                  <c:v>4.14</c:v>
                </c:pt>
                <c:pt idx="5">
                  <c:v>8.33</c:v>
                </c:pt>
                <c:pt idx="6">
                  <c:v>3.07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000000"/>
                    </a:solidFill>
                    <a:latin typeface="Arial"/>
                  </a:rPr>
                  <a:t>Jitter half-width (picks)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-10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000000"/>
                    </a:solidFill>
                    <a:latin typeface="Arial"/>
                  </a:rPr>
                  <a:t>Barycenter − mean, F1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00000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Responses</c:v>
                </c:pt>
              </c:strCache>
            </c:strRef>
          </c:tx>
          <c:spPr>
            <a:solidFill>
              <a:srgbClr val="000000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Chose A</c:v>
                  </c:pt>
                  <c:pt idx="1">
                    <c:v>Chose B</c:v>
                  </c:pt>
                  <c:pt idx="2">
                    <c:v>No preference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12</c:v>
                </c:pt>
                <c:pt idx="2">
                  <c:v>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  <c:min val="0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155448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40080" y="3017520"/>
            <a:ext cx="78638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15544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Wasserstein Barycenter vs. Euclidean Mean</a:t>
            </a:r>
            <a:endParaRPr lang="en-US" sz="3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640080" y="30175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Consensus targets for video summarization on TVSum50: architecture, figures and results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Consensus target construction</a:t>
            </a:r>
            <a:endParaRPr lang="en-US" sz="3000" dirty="0"/>
          </a:p>
        </p:txBody>
      </p:sp>
      <p:sp>
        <p:nvSpPr>
          <p:cNvPr id="3" name="annotators"/>
          <p:cNvSpPr/>
          <p:nvPr/>
        </p:nvSpPr>
        <p:spPr>
          <a:xfrm>
            <a:off x="457200" y="1371600"/>
            <a:ext cx="1828800" cy="306324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38100" tIns="114300" rIns="114300" bIns="381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20 annotator rating curves per video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scores 1–5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each normalized to a distribution p_k over time</a:t>
            </a:r>
            <a:endParaRPr lang="en-US" sz="1200" dirty="0"/>
          </a:p>
        </p:txBody>
      </p:sp>
      <p:sp>
        <p:nvSpPr>
          <p:cNvPr id="4" name="mean_box"/>
          <p:cNvSpPr/>
          <p:nvPr/>
        </p:nvSpPr>
        <p:spPr>
          <a:xfrm>
            <a:off x="2834640" y="1371600"/>
            <a:ext cx="3291840" cy="123444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38100" tIns="114300" rIns="114300" bIns="3810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Euclidean mean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y_mean(t) = (1/K) Σ p_k(t)</a:t>
            </a:r>
            <a:endParaRPr lang="en-US" sz="1300" dirty="0"/>
          </a:p>
        </p:txBody>
      </p:sp>
      <p:sp>
        <p:nvSpPr>
          <p:cNvPr id="5" name="bary_box"/>
          <p:cNvSpPr/>
          <p:nvPr/>
        </p:nvSpPr>
        <p:spPr>
          <a:xfrm>
            <a:off x="2834640" y="2971800"/>
            <a:ext cx="3291840" cy="146304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38100" tIns="114300" rIns="114300" bIns="3810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Wasserstein-2 barycenter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F⁻¹_bary(q) = (1/K) Σ F_k⁻¹(q)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quantile functions averaged, mass re-binned to frames</a:t>
            </a:r>
            <a:endParaRPr lang="en-US" sz="1300" dirty="0"/>
          </a:p>
        </p:txBody>
      </p:sp>
      <p:sp>
        <p:nvSpPr>
          <p:cNvPr id="6" name="target_box"/>
          <p:cNvSpPr/>
          <p:nvPr/>
        </p:nvSpPr>
        <p:spPr>
          <a:xfrm>
            <a:off x="6675120" y="1371600"/>
            <a:ext cx="2011680" cy="3063240"/>
          </a:xfrm>
          <a:prstGeom prst="rect">
            <a:avLst/>
          </a:prstGeom>
          <a:solidFill>
            <a:schemeClr val="tx1"/>
          </a:solidFill>
          <a:ln w="15875">
            <a:solidFill>
              <a:schemeClr val="tx1"/>
            </a:solidFill>
          </a:ln>
        </p:spPr>
        <p:txBody>
          <a:bodyPr wrap="square" lIns="38100" tIns="114300" rIns="114300" bIns="381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Training target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mean, barycenter, or blend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(1 − α)·mean + α·bary</a:t>
            </a:r>
            <a:endParaRPr lang="en-US" sz="1200" dirty="0"/>
          </a:p>
        </p:txBody>
      </p:sp>
      <p:sp>
        <p:nvSpPr>
          <p:cNvPr id="7" name="arrow_mean_in"/>
          <p:cNvSpPr/>
          <p:nvPr/>
        </p:nvSpPr>
        <p:spPr>
          <a:xfrm>
            <a:off x="2286000" y="1988820"/>
            <a:ext cx="54864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8" name="arrow_bary_in"/>
          <p:cNvSpPr/>
          <p:nvPr/>
        </p:nvSpPr>
        <p:spPr>
          <a:xfrm>
            <a:off x="2286000" y="3703320"/>
            <a:ext cx="54864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9" name="arrow_mean_out"/>
          <p:cNvSpPr/>
          <p:nvPr/>
        </p:nvSpPr>
        <p:spPr>
          <a:xfrm>
            <a:off x="6126480" y="1988820"/>
            <a:ext cx="54864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0" name="arrow_bary_out"/>
          <p:cNvSpPr/>
          <p:nvPr/>
        </p:nvSpPr>
        <p:spPr>
          <a:xfrm>
            <a:off x="6126480" y="3703320"/>
            <a:ext cx="54864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Evaluation pipeline</a:t>
            </a:r>
            <a:endParaRPr lang="en-US" sz="3000" dirty="0"/>
          </a:p>
        </p:txBody>
      </p:sp>
      <p:sp>
        <p:nvSpPr>
          <p:cNvPr id="3" name="step1"/>
          <p:cNvSpPr/>
          <p:nvPr/>
        </p:nvSpPr>
        <p:spPr>
          <a:xfrm>
            <a:off x="457200" y="1325880"/>
            <a:ext cx="2468880" cy="109728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38100" tIns="114300" rIns="114300" bIns="3810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1  Features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GoogLeNet pool5, T × 1024 at 2 fps</a:t>
            </a:r>
            <a:endParaRPr lang="en-US" sz="1200" dirty="0"/>
          </a:p>
        </p:txBody>
      </p:sp>
      <p:sp>
        <p:nvSpPr>
          <p:cNvPr id="4" name="step2"/>
          <p:cNvSpPr/>
          <p:nvPr/>
        </p:nvSpPr>
        <p:spPr>
          <a:xfrm>
            <a:off x="3337560" y="1325880"/>
            <a:ext cx="2468880" cy="109728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38100" tIns="114300" rIns="114300" bIns="3810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2  Regressor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video-conditioned model</a:t>
            </a:r>
            <a:endParaRPr lang="en-US" sz="1200" dirty="0"/>
          </a:p>
        </p:txBody>
      </p:sp>
      <p:sp>
        <p:nvSpPr>
          <p:cNvPr id="5" name="step3"/>
          <p:cNvSpPr/>
          <p:nvPr/>
        </p:nvSpPr>
        <p:spPr>
          <a:xfrm>
            <a:off x="6217920" y="1325880"/>
            <a:ext cx="2468880" cy="109728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38100" tIns="114300" rIns="114300" bIns="3810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3  Scores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softmax over time, divided by max</a:t>
            </a:r>
            <a:endParaRPr lang="en-US" sz="1200" dirty="0"/>
          </a:p>
        </p:txBody>
      </p:sp>
      <p:sp>
        <p:nvSpPr>
          <p:cNvPr id="6" name="step4"/>
          <p:cNvSpPr/>
          <p:nvPr/>
        </p:nvSpPr>
        <p:spPr>
          <a:xfrm>
            <a:off x="6217920" y="3017520"/>
            <a:ext cx="2468880" cy="109728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38100" tIns="114300" rIns="114300" bIns="3810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4  Shot scores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expand to frames, mean per KTS shot, int(1000 × mean)</a:t>
            </a:r>
            <a:endParaRPr lang="en-US" sz="1200" dirty="0"/>
          </a:p>
        </p:txBody>
      </p:sp>
      <p:sp>
        <p:nvSpPr>
          <p:cNvPr id="7" name="step5"/>
          <p:cNvSpPr/>
          <p:nvPr/>
        </p:nvSpPr>
        <p:spPr>
          <a:xfrm>
            <a:off x="3337560" y="3017520"/>
            <a:ext cx="2468880" cy="109728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38100" tIns="114300" rIns="114300" bIns="3810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5  Summary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0/1 knapsack, at most 15% of video duration</a:t>
            </a:r>
            <a:endParaRPr lang="en-US" sz="1200" dirty="0"/>
          </a:p>
        </p:txBody>
      </p:sp>
      <p:sp>
        <p:nvSpPr>
          <p:cNvPr id="8" name="step6"/>
          <p:cNvSpPr/>
          <p:nvPr/>
        </p:nvSpPr>
        <p:spPr>
          <a:xfrm>
            <a:off x="457200" y="3017520"/>
            <a:ext cx="2468880" cy="1097280"/>
          </a:xfrm>
          <a:prstGeom prst="rect">
            <a:avLst/>
          </a:prstGeom>
          <a:solidFill>
            <a:schemeClr val="tx1"/>
          </a:solidFill>
          <a:ln w="15875">
            <a:solidFill>
              <a:schemeClr val="tx1"/>
            </a:solidFill>
          </a:ln>
        </p:spPr>
        <p:txBody>
          <a:bodyPr wrap="square" lIns="38100" tIns="114300" rIns="114300" bIns="3810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6  Metrics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F1 vs each of 20 summaries, averaged; Spearman and Kendall vs raw ratings</a:t>
            </a:r>
            <a:endParaRPr lang="en-US" sz="1200" dirty="0"/>
          </a:p>
        </p:txBody>
      </p:sp>
      <p:sp>
        <p:nvSpPr>
          <p:cNvPr id="9" name="a12"/>
          <p:cNvSpPr/>
          <p:nvPr/>
        </p:nvSpPr>
        <p:spPr>
          <a:xfrm>
            <a:off x="2926080" y="1874520"/>
            <a:ext cx="41148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0" name="a23"/>
          <p:cNvSpPr/>
          <p:nvPr/>
        </p:nvSpPr>
        <p:spPr>
          <a:xfrm>
            <a:off x="5806440" y="1874520"/>
            <a:ext cx="41148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1" name="a34"/>
          <p:cNvSpPr/>
          <p:nvPr/>
        </p:nvSpPr>
        <p:spPr>
          <a:xfrm>
            <a:off x="7452360" y="2423160"/>
            <a:ext cx="0" cy="59436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2" name="a45"/>
          <p:cNvSpPr/>
          <p:nvPr/>
        </p:nvSpPr>
        <p:spPr>
          <a:xfrm flipH="1">
            <a:off x="5806440" y="3566160"/>
            <a:ext cx="41148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3" name="a56"/>
          <p:cNvSpPr/>
          <p:nvPr/>
        </p:nvSpPr>
        <p:spPr>
          <a:xfrm flipH="1">
            <a:off x="2926080" y="3566160"/>
            <a:ext cx="41148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4" name="pipeline_note"/>
          <p:cNvSpPr txBox="1"/>
          <p:nvPr/>
        </p:nvSpPr>
        <p:spPr>
          <a:xfrm>
            <a:off x="457200" y="4343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Scores are divided by their maximum before integer conversion; the unnormalized softmax scale made shot scores collapse to a few integers.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Model architectures</a:t>
            </a:r>
            <a:endParaRPr lang="en-US" sz="3000" dirty="0"/>
          </a:p>
        </p:txBody>
      </p:sp>
      <p:sp>
        <p:nvSpPr>
          <p:cNvPr id="3" name="conv_head"/>
          <p:cNvSpPr txBox="1"/>
          <p:nvPr/>
        </p:nvSpPr>
        <p:spPr>
          <a:xfrm>
            <a:off x="45720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Temporal convolution</a:t>
            </a:r>
            <a:endParaRPr lang="en-US" sz="1400" dirty="0"/>
          </a:p>
        </p:txBody>
      </p:sp>
      <p:sp>
        <p:nvSpPr>
          <p:cNvPr id="4" name="conv_0"/>
          <p:cNvSpPr/>
          <p:nvPr/>
        </p:nvSpPr>
        <p:spPr>
          <a:xfrm>
            <a:off x="457200" y="1417320"/>
            <a:ext cx="2743200" cy="36576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38100" tIns="114300" rIns="114300" bIns="381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Input T × 1024</a:t>
            </a:r>
            <a:endParaRPr lang="en-US" sz="1200" dirty="0"/>
          </a:p>
        </p:txBody>
      </p:sp>
      <p:sp>
        <p:nvSpPr>
          <p:cNvPr id="5" name="conv_a0"/>
          <p:cNvSpPr/>
          <p:nvPr/>
        </p:nvSpPr>
        <p:spPr>
          <a:xfrm>
            <a:off x="1828800" y="1783080"/>
            <a:ext cx="0" cy="128016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6" name="conv_1"/>
          <p:cNvSpPr/>
          <p:nvPr/>
        </p:nvSpPr>
        <p:spPr>
          <a:xfrm>
            <a:off x="457200" y="1911096"/>
            <a:ext cx="2743200" cy="36576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38100" tIns="114300" rIns="114300" bIns="381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Linear 1024 → 64, GELU</a:t>
            </a:r>
            <a:endParaRPr lang="en-US" sz="1200" dirty="0"/>
          </a:p>
        </p:txBody>
      </p:sp>
      <p:sp>
        <p:nvSpPr>
          <p:cNvPr id="7" name="conv_a1"/>
          <p:cNvSpPr/>
          <p:nvPr/>
        </p:nvSpPr>
        <p:spPr>
          <a:xfrm>
            <a:off x="1828800" y="2276856"/>
            <a:ext cx="0" cy="128016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8" name="conv_2"/>
          <p:cNvSpPr/>
          <p:nvPr/>
        </p:nvSpPr>
        <p:spPr>
          <a:xfrm>
            <a:off x="457200" y="2404872"/>
            <a:ext cx="2743200" cy="36576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38100" tIns="114300" rIns="114300" bIns="381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Conv1d k=5, GELU, dropout 0.1</a:t>
            </a:r>
            <a:endParaRPr lang="en-US" sz="1200" dirty="0"/>
          </a:p>
        </p:txBody>
      </p:sp>
      <p:sp>
        <p:nvSpPr>
          <p:cNvPr id="9" name="conv_a2"/>
          <p:cNvSpPr/>
          <p:nvPr/>
        </p:nvSpPr>
        <p:spPr>
          <a:xfrm>
            <a:off x="1828800" y="2770632"/>
            <a:ext cx="0" cy="128016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0" name="conv_3"/>
          <p:cNvSpPr/>
          <p:nvPr/>
        </p:nvSpPr>
        <p:spPr>
          <a:xfrm>
            <a:off x="457200" y="2898648"/>
            <a:ext cx="2743200" cy="36576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38100" tIns="114300" rIns="114300" bIns="381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Conv1d k=3, + residual, GELU</a:t>
            </a:r>
            <a:endParaRPr lang="en-US" sz="1200" dirty="0"/>
          </a:p>
        </p:txBody>
      </p:sp>
      <p:sp>
        <p:nvSpPr>
          <p:cNvPr id="11" name="conv_a3"/>
          <p:cNvSpPr/>
          <p:nvPr/>
        </p:nvSpPr>
        <p:spPr>
          <a:xfrm>
            <a:off x="1828800" y="3264408"/>
            <a:ext cx="0" cy="128016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2" name="conv_4"/>
          <p:cNvSpPr/>
          <p:nvPr/>
        </p:nvSpPr>
        <p:spPr>
          <a:xfrm>
            <a:off x="457200" y="3392424"/>
            <a:ext cx="2743200" cy="36576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38100" tIns="114300" rIns="114300" bIns="381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Conv1d 1×1 → 1 logit</a:t>
            </a:r>
            <a:endParaRPr lang="en-US" sz="1200" dirty="0"/>
          </a:p>
        </p:txBody>
      </p:sp>
      <p:sp>
        <p:nvSpPr>
          <p:cNvPr id="13" name="conv_a4"/>
          <p:cNvSpPr/>
          <p:nvPr/>
        </p:nvSpPr>
        <p:spPr>
          <a:xfrm>
            <a:off x="1828800" y="3758184"/>
            <a:ext cx="0" cy="128016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4" name="conv_5"/>
          <p:cNvSpPr/>
          <p:nvPr/>
        </p:nvSpPr>
        <p:spPr>
          <a:xfrm>
            <a:off x="457200" y="3886200"/>
            <a:ext cx="2743200" cy="365760"/>
          </a:xfrm>
          <a:prstGeom prst="rect">
            <a:avLst/>
          </a:prstGeom>
          <a:solidFill>
            <a:schemeClr val="tx1"/>
          </a:solidFill>
          <a:ln w="15875">
            <a:solidFill>
              <a:schemeClr val="tx1"/>
            </a:solidFill>
          </a:ln>
        </p:spPr>
        <p:txBody>
          <a:bodyPr wrap="square" lIns="38100" tIns="114300" rIns="114300" bIns="381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Softmax over time</a:t>
            </a:r>
            <a:endParaRPr lang="en-US" sz="1200" dirty="0"/>
          </a:p>
        </p:txBody>
      </p:sp>
      <p:sp>
        <p:nvSpPr>
          <p:cNvPr id="15" name="lstm_head"/>
          <p:cNvSpPr txBox="1"/>
          <p:nvPr/>
        </p:nvSpPr>
        <p:spPr>
          <a:xfrm>
            <a:off x="352044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Bidirectional LSTM</a:t>
            </a:r>
            <a:endParaRPr lang="en-US" sz="1400" dirty="0"/>
          </a:p>
        </p:txBody>
      </p:sp>
      <p:sp>
        <p:nvSpPr>
          <p:cNvPr id="16" name="lstm_0"/>
          <p:cNvSpPr/>
          <p:nvPr/>
        </p:nvSpPr>
        <p:spPr>
          <a:xfrm>
            <a:off x="3520440" y="1417320"/>
            <a:ext cx="2743200" cy="36576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38100" tIns="114300" rIns="114300" bIns="381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Input T × 1024</a:t>
            </a:r>
            <a:endParaRPr lang="en-US" sz="1200" dirty="0"/>
          </a:p>
        </p:txBody>
      </p:sp>
      <p:sp>
        <p:nvSpPr>
          <p:cNvPr id="17" name="lstm_a0"/>
          <p:cNvSpPr/>
          <p:nvPr/>
        </p:nvSpPr>
        <p:spPr>
          <a:xfrm>
            <a:off x="4892040" y="1783080"/>
            <a:ext cx="0" cy="128016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8" name="lstm_1"/>
          <p:cNvSpPr/>
          <p:nvPr/>
        </p:nvSpPr>
        <p:spPr>
          <a:xfrm>
            <a:off x="3520440" y="1911096"/>
            <a:ext cx="2743200" cy="36576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38100" tIns="114300" rIns="114300" bIns="381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BiLSTM layer 1, 64 per direction</a:t>
            </a:r>
            <a:endParaRPr lang="en-US" sz="1200" dirty="0"/>
          </a:p>
        </p:txBody>
      </p:sp>
      <p:sp>
        <p:nvSpPr>
          <p:cNvPr id="19" name="lstm_a1"/>
          <p:cNvSpPr/>
          <p:nvPr/>
        </p:nvSpPr>
        <p:spPr>
          <a:xfrm>
            <a:off x="4892040" y="2276856"/>
            <a:ext cx="0" cy="128016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0" name="lstm_2"/>
          <p:cNvSpPr/>
          <p:nvPr/>
        </p:nvSpPr>
        <p:spPr>
          <a:xfrm>
            <a:off x="3520440" y="2404872"/>
            <a:ext cx="2743200" cy="36576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38100" tIns="114300" rIns="114300" bIns="381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BiLSTM layer 2, dropout 0.1</a:t>
            </a:r>
            <a:endParaRPr lang="en-US" sz="1200" dirty="0"/>
          </a:p>
        </p:txBody>
      </p:sp>
      <p:sp>
        <p:nvSpPr>
          <p:cNvPr id="21" name="lstm_a2"/>
          <p:cNvSpPr/>
          <p:nvPr/>
        </p:nvSpPr>
        <p:spPr>
          <a:xfrm>
            <a:off x="4892040" y="2770632"/>
            <a:ext cx="0" cy="128016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2" name="lstm_3"/>
          <p:cNvSpPr/>
          <p:nvPr/>
        </p:nvSpPr>
        <p:spPr>
          <a:xfrm>
            <a:off x="3520440" y="2898648"/>
            <a:ext cx="2743200" cy="36576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38100" tIns="114300" rIns="114300" bIns="381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Linear 128 → 1 logit</a:t>
            </a:r>
            <a:endParaRPr lang="en-US" sz="1200" dirty="0"/>
          </a:p>
        </p:txBody>
      </p:sp>
      <p:sp>
        <p:nvSpPr>
          <p:cNvPr id="23" name="lstm_a3"/>
          <p:cNvSpPr/>
          <p:nvPr/>
        </p:nvSpPr>
        <p:spPr>
          <a:xfrm>
            <a:off x="4892040" y="3264408"/>
            <a:ext cx="0" cy="128016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4" name="lstm_4"/>
          <p:cNvSpPr/>
          <p:nvPr/>
        </p:nvSpPr>
        <p:spPr>
          <a:xfrm>
            <a:off x="3520440" y="3392424"/>
            <a:ext cx="2743200" cy="365760"/>
          </a:xfrm>
          <a:prstGeom prst="rect">
            <a:avLst/>
          </a:prstGeom>
          <a:solidFill>
            <a:schemeClr val="tx1"/>
          </a:solidFill>
          <a:ln w="15875">
            <a:solidFill>
              <a:schemeClr val="tx1"/>
            </a:solidFill>
          </a:ln>
        </p:spPr>
        <p:txBody>
          <a:bodyPr wrap="square" lIns="38100" tIns="114300" rIns="114300" bIns="381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Softmax over time</a:t>
            </a:r>
            <a:endParaRPr lang="en-US" sz="1200" dirty="0"/>
          </a:p>
        </p:txBody>
      </p:sp>
      <p:sp>
        <p:nvSpPr>
          <p:cNvPr id="25" name="train_head"/>
          <p:cNvSpPr txBox="1"/>
          <p:nvPr/>
        </p:nvSpPr>
        <p:spPr>
          <a:xfrm>
            <a:off x="6583680" y="1097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Training</a:t>
            </a:r>
            <a:endParaRPr lang="en-US" sz="1400" dirty="0"/>
          </a:p>
        </p:txBody>
      </p:sp>
      <p:sp>
        <p:nvSpPr>
          <p:cNvPr id="26" name="train_list"/>
          <p:cNvSpPr txBox="1"/>
          <p:nvPr/>
        </p:nvSpPr>
        <p:spPr>
          <a:xfrm>
            <a:off x="6583680" y="1417320"/>
            <a:ext cx="21031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AdamW, lr 1e-3, weight decay 1e-4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Batch 4, 10 epochs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5 seeds, 5 DSNet folds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Checkpoint chosen on 4 validation videos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Losses: MSE, cross-entropy, Cramér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Figure: shifted copies of one event</a:t>
            </a:r>
            <a:endParaRPr lang="en-US" sz="3000" dirty="0"/>
          </a:p>
        </p:txBody>
      </p:sp>
      <p:graphicFrame>
        <p:nvGraphicFramePr>
          <p:cNvPr id="3" name="fig_shift" descr=""/>
          <p:cNvGraphicFramePr/>
          <p:nvPr/>
        </p:nvGraphicFramePr>
        <p:xfrm>
          <a:off x="457200" y="1097280"/>
          <a:ext cx="82296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fig_shift_cap"/>
          <p:cNvSpPr txBox="1"/>
          <p:nvPr/>
        </p:nvSpPr>
        <p:spPr>
          <a:xfrm>
            <a:off x="457200" y="4251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20 annotators, shifts of −10 to +10 picks, Gaussian σ = 2. The mean blurs the peak to σ = 6.5; the barycenter recovers σ = 1.96 and the true height. Computed with the repo's own target code.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Figure: disagreement on which event</a:t>
            </a:r>
            <a:endParaRPr lang="en-US" sz="3000" dirty="0"/>
          </a:p>
        </p:txBody>
      </p:sp>
      <p:graphicFrame>
        <p:nvGraphicFramePr>
          <p:cNvPr id="3" name="fig_phantom" descr=""/>
          <p:cNvGraphicFramePr/>
          <p:nvPr/>
        </p:nvGraphicFramePr>
        <p:xfrm>
          <a:off x="457200" y="1097280"/>
          <a:ext cx="82296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fig_phantom_cap"/>
          <p:cNvSpPr txBox="1"/>
          <p:nvPr/>
        </p:nvSpPr>
        <p:spPr>
          <a:xfrm>
            <a:off x="457200" y="4251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Two annotators, one rating peak at t = 20 and one at t = 70. The mean keeps both events; the barycenter puts all of its mass between them (t = 35 to 55), where neither annotator saw anything.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Oracle: leave-one-annotator-out</a:t>
            </a:r>
            <a:endParaRPr lang="en-US" sz="3000" dirty="0"/>
          </a:p>
        </p:txBody>
      </p:sp>
      <p:graphicFrame>
        <p:nvGraphicFramePr>
          <p:cNvPr id="3" name="chart_oracle" descr=""/>
          <p:cNvGraphicFramePr/>
          <p:nvPr/>
        </p:nvGraphicFramePr>
        <p:xfrm>
          <a:off x="457200" y="1097280"/>
          <a:ext cx="822960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oracle_cap"/>
          <p:cNvSpPr txBox="1"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F1 (%) against the held-out annotator's summary, 19 other annotators form the target. Barycenter minus mean: −1.94 overall (Holm-adjusted p = 0.006), −1.2 / −1.0 / −3.7 by tertile. Axis starts at 50.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Learned models on TVSum</a:t>
            </a:r>
            <a:endParaRPr lang="en-US" sz="3000" dirty="0"/>
          </a:p>
        </p:txBody>
      </p:sp>
      <p:graphicFrame>
        <p:nvGraphicFramePr>
          <p:cNvPr id="3" name="chart_learned" descr=""/>
          <p:cNvGraphicFramePr/>
          <p:nvPr/>
        </p:nvGraphicFramePr>
        <p:xfrm>
          <a:off x="457200" y="1051560"/>
          <a:ext cx="57607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learned_notes"/>
          <p:cNvSpPr txBox="1"/>
          <p:nvPr/>
        </p:nvSpPr>
        <p:spPr>
          <a:xfrm>
            <a:off x="6492240" y="1188720"/>
            <a:ext cx="21945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32 unique test videos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Mean of 5 seeds and repeated split appearances per video.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Black: trained arms. Gray: baselines.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Arm differences are under 1.3 points. Axis starts at 50.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Paired contrasts</a:t>
            </a:r>
            <a:endParaRPr lang="en-US" sz="3000" dirty="0"/>
          </a:p>
        </p:txBody>
      </p:sp>
      <p:graphicFrame>
        <p:nvGraphicFramePr>
          <p:cNvPr id="10" name="table_contrast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1097280"/>
                <a:gridCol w="201168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Contrast (32 videos)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Δ F1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95% CI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 (paired t)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Barycenter − mean, MSE (D − A)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−0.53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[−1.25, +0.18]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0.14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Barycenter − mean, Cramér (E − C)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+0.28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[−0.20, +0.76]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0.25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Blend − mean, Cramér (F − C)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+0.38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[+0.05, +0.71]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0.026*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Arm B − uniform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+2.02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[−0.27, +4.30]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0.081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Arm B − feature-shuffle control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+2.37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[+0.97, +3.77]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0.002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Arm B − random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+4.61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[+3.25, +5.97]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&lt; 0.001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Arm B − human leave-one-out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−4.30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[−6.17, −2.43]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&lt; 0.001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contrast_cap"/>
          <p:cNvSpPr txBox="1"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* Uncorrected; Holm-adjusted p = 0.10 over the five contrasts D − A, E − C, F − C, E − B, D − B. The clean barycenter-vs-mean contrasts (first two rows) show no detectable effect.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Simulation: jitter and latent truth</a:t>
            </a:r>
            <a:endParaRPr lang="en-US" sz="3000" dirty="0"/>
          </a:p>
        </p:txBody>
      </p:sp>
      <p:graphicFrame>
        <p:nvGraphicFramePr>
          <p:cNvPr id="3" name="chart_sim" descr=""/>
          <p:cNvGraphicFramePr/>
          <p:nvPr/>
        </p:nvGraphicFramePr>
        <p:xfrm>
          <a:off x="457200" y="1051560"/>
          <a:ext cx="82296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im_cap"/>
          <p:cNvSpPr txBox="1"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50 videos, 20 simulated annotators each. Against the latent truth the barycenter overtakes the mean from 8 picks (about 4 s) of jitter; against jittered annotators it never wins. Annotation resolution is about 4 picks. Exploratory: source curve is the TVSum mean score; not pre-registered.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Human study: choices by slot</a:t>
            </a:r>
            <a:endParaRPr lang="en-US" sz="3000" dirty="0"/>
          </a:p>
        </p:txBody>
      </p:sp>
      <p:graphicFrame>
        <p:nvGraphicFramePr>
          <p:cNvPr id="3" name="chart_human" descr=""/>
          <p:cNvGraphicFramePr/>
          <p:nvPr/>
        </p:nvGraphicFramePr>
        <p:xfrm>
          <a:off x="457200" y="1097280"/>
          <a:ext cx="45720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human_notes"/>
          <p:cNvSpPr txBox="1"/>
          <p:nvPr/>
        </p:nvSpPr>
        <p:spPr>
          <a:xfrm>
            <a:off x="5394960" y="1188720"/>
            <a:ext cx="3291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19 responses, 7 participants, 3 videos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Barycenter was in slot B in 5 of 7 trials (video 1) and the mean in 4 of 6 (video 2).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Randomization test on model wins: p = 0.61.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Video 3: the two clips are visually identical, yet 3 of 6 responses named a winner.</a:t>
            </a:r>
            <a:endParaRPr lang="en-US" sz="1400" dirty="0"/>
          </a:p>
        </p:txBody>
      </p:sp>
      <p:sp>
        <p:nvSpPr>
          <p:cNvPr id="5" name="human_cap"/>
          <p:cNvSpPr txBox="1"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Participants picked slot B in 12 of 15 non-tie trials, so per-video model preferences are not separable from position.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Summary</a:t>
            </a:r>
            <a:endParaRPr lang="en-US" sz="3000" dirty="0"/>
          </a:p>
        </p:txBody>
      </p:sp>
      <p:sp>
        <p:nvSpPr>
          <p:cNvPr id="3" name="sum1"/>
          <p:cNvSpPr/>
          <p:nvPr/>
        </p:nvSpPr>
        <p:spPr>
          <a:xfrm>
            <a:off x="457200" y="1234440"/>
            <a:ext cx="3977640" cy="141732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38100" tIns="114300" rIns="114300" bIns="3810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Learned models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Barycenter vs mean targets: no detectable difference (−0.53 and +0.28 F1).</a:t>
            </a:r>
            <a:endParaRPr lang="en-US" sz="1400" dirty="0"/>
          </a:p>
        </p:txBody>
      </p:sp>
      <p:sp>
        <p:nvSpPr>
          <p:cNvPr id="4" name="sum2"/>
          <p:cNvSpPr/>
          <p:nvPr/>
        </p:nvSpPr>
        <p:spPr>
          <a:xfrm>
            <a:off x="4709160" y="1234440"/>
            <a:ext cx="3977640" cy="141732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38100" tIns="114300" rIns="114300" bIns="3810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Oracle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Barycenter target is 1.94 F1 below the mean (Holm p = 0.006), mostly where annotators agree.</a:t>
            </a:r>
            <a:endParaRPr lang="en-US" sz="1400" dirty="0"/>
          </a:p>
        </p:txBody>
      </p:sp>
      <p:sp>
        <p:nvSpPr>
          <p:cNvPr id="5" name="sum3"/>
          <p:cNvSpPr/>
          <p:nvPr/>
        </p:nvSpPr>
        <p:spPr>
          <a:xfrm>
            <a:off x="457200" y="2926080"/>
            <a:ext cx="3977640" cy="141732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38100" tIns="114300" rIns="114300" bIns="3810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Simulation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Barycenter beats the mean against the latent truth from 8 picks of jitter, and loses at small jitter.</a:t>
            </a:r>
            <a:endParaRPr lang="en-US" sz="1400" dirty="0"/>
          </a:p>
        </p:txBody>
      </p:sp>
      <p:sp>
        <p:nvSpPr>
          <p:cNvPr id="6" name="sum4"/>
          <p:cNvSpPr/>
          <p:nvPr/>
        </p:nvSpPr>
        <p:spPr>
          <a:xfrm>
            <a:off x="4709160" y="2926080"/>
            <a:ext cx="3977640" cy="141732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38100" tIns="114300" rIns="114300" bIns="3810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Human study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Confounded with slot position and inconclusive.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ain BW">
  <a:themeElements>
    <a:clrScheme name="Plain BW">
      <a:dk1>
        <a:srgbClr val="000000"/>
      </a:dk1>
      <a:lt1>
        <a:srgbClr val="FFFFFF"/>
      </a:lt1>
      <a:dk2>
        <a:srgbClr val="404040"/>
      </a:dk2>
      <a:lt2>
        <a:srgbClr val="F2F2F2"/>
      </a:lt2>
      <a:accent1>
        <a:srgbClr val="808080"/>
      </a:accent1>
      <a:accent2>
        <a:srgbClr val="BFBFBF"/>
      </a:accent2>
      <a:accent3>
        <a:srgbClr val="595959"/>
      </a:accent3>
      <a:accent4>
        <a:srgbClr val="A6A6A6"/>
      </a:accent4>
      <a:accent5>
        <a:srgbClr val="D9D9D9"/>
      </a:accent5>
      <a:accent6>
        <a:srgbClr val="262626"/>
      </a:accent6>
      <a:hlink>
        <a:srgbClr val="000000"/>
      </a:hlink>
      <a:folHlink>
        <a:srgbClr val="595959"/>
      </a:folHlink>
    </a:clrScheme>
    <a:fontScheme name="Plain BW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2026-10-20T08:25:11Z</dcterms:created>
  <dcterms:modified xsi:type="dcterms:W3CDTF">2026-10-20T08:25:11Z</dcterms:modified>
</cp:coreProperties>
</file>